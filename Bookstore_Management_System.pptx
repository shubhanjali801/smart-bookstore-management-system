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embeddedFontLst>
    <p:embeddedFont>
      <p:font typeface="Arial Black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GLxUVrn/jX/jYzoAWheAd1JJV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ArialBlack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52238"/>
          </a:solidFill>
          <a:ln cap="flat" cmpd="sng" w="12700">
            <a:solidFill>
              <a:srgbClr val="152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" y="365760"/>
            <a:ext cx="1463040" cy="27432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3657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PROJECT </a:t>
            </a:r>
            <a:r>
              <a:rPr b="1"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PRESENTATION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77724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Smart Bookstore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169164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Management System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2697480"/>
            <a:ext cx="1828800" cy="4114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365760" y="269748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MERN Stack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65760" y="33375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SHUBHANJALI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65760" y="3703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IIIT Allahabad  · 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303520" y="365760"/>
            <a:ext cx="3566160" cy="4389120"/>
          </a:xfrm>
          <a:prstGeom prst="rect">
            <a:avLst/>
          </a:prstGeom>
          <a:solidFill>
            <a:srgbClr val="F0F2F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5303520" y="38404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Live Application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349240" y="658368"/>
            <a:ext cx="3474720" cy="201168"/>
          </a:xfrm>
          <a:prstGeom prst="rect">
            <a:avLst/>
          </a:prstGeom>
          <a:solidFill>
            <a:srgbClr val="E9ECE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349240" y="65836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● ● ●  bookstore.vercel.app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349240" y="960120"/>
            <a:ext cx="3474720" cy="3657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5349240" y="9601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Bookstore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349240" y="1417320"/>
            <a:ext cx="3474720" cy="640080"/>
          </a:xfrm>
          <a:prstGeom prst="rect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5349240" y="141732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 Books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37 books</a:t>
            </a: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available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349240" y="2148840"/>
            <a:ext cx="3474720" cy="13716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5349240" y="2148840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Book cards grid...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5349240" y="3611880"/>
            <a:ext cx="3474720" cy="548640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5362751" y="3625391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Proceed to Checkout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523"/>
          </a:solidFill>
          <a:ln cap="flat" cmpd="sng" w="12700">
            <a:solidFill>
              <a:srgbClr val="0915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" name="Google Shape;39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7500" y="2057402"/>
            <a:ext cx="3458199" cy="150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AGENDA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74320" y="914400"/>
            <a:ext cx="4206240" cy="5486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365760" y="987552"/>
            <a:ext cx="402336" cy="402336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65760" y="9875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68680" y="91440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&amp; Problem Statement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754880" y="914400"/>
            <a:ext cx="4206240" cy="5486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846320" y="987552"/>
            <a:ext cx="402336" cy="402336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846320" y="9875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349240" y="91440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Stack — MERN Overview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74320" y="1600200"/>
            <a:ext cx="4206240" cy="5486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365760" y="1673352"/>
            <a:ext cx="402336" cy="402336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365760" y="16733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68680" y="160020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 &amp;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754880" y="1600200"/>
            <a:ext cx="4206240" cy="5486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846320" y="1673352"/>
            <a:ext cx="402336" cy="402336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846320" y="16733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349240" y="160020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Modules &amp;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274320" y="2286000"/>
            <a:ext cx="4206240" cy="5486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365760" y="2359152"/>
            <a:ext cx="402336" cy="402336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365760" y="23591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68680" y="228600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754880" y="2286000"/>
            <a:ext cx="4206240" cy="5486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846320" y="2359152"/>
            <a:ext cx="402336" cy="402336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846320" y="23591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349240" y="228600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Highlights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274320" y="2971800"/>
            <a:ext cx="4206240" cy="5486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365760" y="3044952"/>
            <a:ext cx="402336" cy="402336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365760" y="30449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68680" y="297180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&amp;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754880" y="2971800"/>
            <a:ext cx="4206240" cy="5486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4846320" y="3044952"/>
            <a:ext cx="402336" cy="402336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4846320" y="30449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349240" y="297180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&amp; Future 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274320" y="4389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↓  live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523"/>
          </a:solidFill>
          <a:ln cap="flat" cmpd="sng" w="12700">
            <a:solidFill>
              <a:srgbClr val="0915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Why a Smart Bookstore System?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65760" y="868680"/>
            <a:ext cx="5029200" cy="713232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65760" y="868680"/>
            <a:ext cx="64008" cy="71323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548640" y="905256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No Online Presence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48640" y="1161288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Bookstores manage inventory manually with spreadsheets causing errors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65760" y="1737360"/>
            <a:ext cx="5029200" cy="713232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365760" y="1737360"/>
            <a:ext cx="64008" cy="713232"/>
          </a:xfrm>
          <a:prstGeom prst="rect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548640" y="1773936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No Payment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48640" y="2029968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Cash-only transactions limit customer reach and revenue tracking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65760" y="2606040"/>
            <a:ext cx="5029200" cy="713232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365760" y="2606040"/>
            <a:ext cx="64008" cy="71323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548640" y="2642616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No Order Tracking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548640" y="2898648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Customers have no visibility into order status or delivery updates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65760" y="3474720"/>
            <a:ext cx="5029200" cy="713232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365760" y="3474720"/>
            <a:ext cx="64008" cy="71323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548640" y="3511296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No Access Control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48640" y="3767328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Anyone can add, edit or delete books causing data integrity issues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577840" y="822960"/>
            <a:ext cx="3337560" cy="37490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5577840" y="841248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✅  The Solution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669280" y="128016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Full-stack MERN web application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669280" y="1664208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Online book browsing &amp; 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669280" y="2048256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Stripe payment gateway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669280" y="2432304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Real-time order tracking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669280" y="281635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Admin &amp; customer roles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669280" y="320040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Email order confirmations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669280" y="3584448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Deployed on Vercel + Render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669280" y="3968496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MongoDB Atlas cloud database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365750" y="4562854"/>
            <a:ext cx="84126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This system replaced all above pain points — one platform for bookstore management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523"/>
          </a:solidFill>
          <a:ln cap="flat" cmpd="sng" w="12700">
            <a:solidFill>
              <a:srgbClr val="0915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MERN Stack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74320" y="868680"/>
            <a:ext cx="2011680" cy="379476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822960" y="1005840"/>
            <a:ext cx="914400" cy="914400"/>
          </a:xfrm>
          <a:prstGeom prst="ellipse">
            <a:avLst/>
          </a:prstGeom>
          <a:solidFill>
            <a:srgbClr val="47A248"/>
          </a:solidFill>
          <a:ln cap="flat" cmpd="sng" w="12700">
            <a:solidFill>
              <a:srgbClr val="47A2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822960" y="100584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74320" y="202996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74320" y="23317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A24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7A248"/>
                </a:solidFill>
                <a:latin typeface="Calibri"/>
                <a:ea typeface="Calibri"/>
                <a:cs typeface="Calibri"/>
                <a:sym typeface="Calibri"/>
              </a:rPr>
              <a:t>NoSQL Database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65760" y="26974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Document-based, flexible schema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65760" y="29718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Hosted on MongoDB Atlas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65760" y="32461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Mongoose ODM for validation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65760" y="35204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6 collections designed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450592" y="868680"/>
            <a:ext cx="2011680" cy="379476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2999232" y="1005840"/>
            <a:ext cx="914400" cy="914400"/>
          </a:xfrm>
          <a:prstGeom prst="ellipse">
            <a:avLst/>
          </a:prstGeom>
          <a:solidFill>
            <a:srgbClr val="404040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2999232" y="100584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450592" y="202996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Express.js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2450592" y="23317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Backend Framework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542032" y="26974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Routing &amp; middleware pipeline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2542032" y="29718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REST API with MVC pattern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2542032" y="32461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JWT authentication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2542032" y="35204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5 route files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626864" y="868680"/>
            <a:ext cx="2011680" cy="379476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5175504" y="1005840"/>
            <a:ext cx="914400" cy="914400"/>
          </a:xfrm>
          <a:prstGeom prst="ellipse">
            <a:avLst/>
          </a:prstGeom>
          <a:solidFill>
            <a:srgbClr val="61DAFB"/>
          </a:solidFill>
          <a:ln cap="flat" cmpd="sng" w="127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5175504" y="100584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626864" y="202996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React.js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626864" y="23317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1DAFB"/>
                </a:solidFill>
                <a:latin typeface="Calibri"/>
                <a:ea typeface="Calibri"/>
                <a:cs typeface="Calibri"/>
                <a:sym typeface="Calibri"/>
              </a:rPr>
              <a:t>Frontend Library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718304" y="26974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Component-based UI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718304" y="29718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Material-UI v5 + Redux Toolkit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718304" y="32461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React Router v6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718304" y="35204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12 pages built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803136" y="868680"/>
            <a:ext cx="2011680" cy="379476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7351776" y="1005840"/>
            <a:ext cx="914400" cy="914400"/>
          </a:xfrm>
          <a:prstGeom prst="ellipse">
            <a:avLst/>
          </a:prstGeom>
          <a:solidFill>
            <a:srgbClr val="68A063"/>
          </a:solidFill>
          <a:ln cap="flat" cmpd="sng" w="12700">
            <a:solidFill>
              <a:srgbClr val="68A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7351776" y="100584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803136" y="202996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803136" y="23317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A06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8A063"/>
                </a:solidFill>
                <a:latin typeface="Calibri"/>
                <a:ea typeface="Calibri"/>
                <a:cs typeface="Calibri"/>
                <a:sym typeface="Calibri"/>
              </a:rPr>
              <a:t>Runtime Environment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894576" y="26974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JavaScript on the server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894576" y="29718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Powers Express backend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894576" y="32461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Nodemailer + Stripe SDK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894576" y="35204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100% JS full-stack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523"/>
          </a:solidFill>
          <a:ln cap="flat" cmpd="sng" w="12700">
            <a:solidFill>
              <a:srgbClr val="0915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1371600" y="822960"/>
            <a:ext cx="6400800" cy="10058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1371600" y="86868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PRESENTATION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1371600" y="120700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React.js + Redux Toolkit + Material-UI v5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480560" y="1828800"/>
            <a:ext cx="182880" cy="3200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4754880" y="184708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→ Axios HTTP + JWT Bearer token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645920" y="201168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← JSON responses + CORS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371600" y="1965960"/>
            <a:ext cx="6400800" cy="10058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1371600" y="201168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371600" y="235000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Node.js + Express.js REST API + JWT Auth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480560" y="2971800"/>
            <a:ext cx="182880" cy="3200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4754880" y="299008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→ Axios HTTP + JWT Bearer token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1645920" y="315468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← JSON responses + CORS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1371600" y="3108960"/>
            <a:ext cx="6400800" cy="10058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1371600" y="315468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DATA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1371600" y="349300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MongoDB Atlas + Mongoose ODM + EmailLog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274320" y="4206240"/>
            <a:ext cx="8595360" cy="502920"/>
          </a:xfrm>
          <a:prstGeom prst="rect">
            <a:avLst/>
          </a:prstGeom>
          <a:solidFill>
            <a:srgbClr val="091523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274320" y="42062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External Services:  Stripe API  ·  Gmail SMTP (Nodemailer)  ·  MongoDB Atlas  ·  Render  ·  Vercel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523"/>
          </a:solidFill>
          <a:ln cap="flat" cmpd="sng" w="12700">
            <a:solidFill>
              <a:srgbClr val="0915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Key Modules — Live Features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74320" y="731520"/>
            <a:ext cx="2697480" cy="173736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274320" y="731520"/>
            <a:ext cx="269748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365760" y="868680"/>
            <a:ext cx="2514600" cy="960120"/>
          </a:xfrm>
          <a:prstGeom prst="rect">
            <a:avLst/>
          </a:prstGeom>
          <a:solidFill>
            <a:srgbClr val="F0F2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365760" y="868680"/>
            <a:ext cx="2514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Browse Books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274320" y="1828800"/>
            <a:ext cx="2697480" cy="3657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274320" y="1828800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Browse Books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274320" y="202996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Sidebar filter + search + genre chips + 4-col grid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154680" y="731520"/>
            <a:ext cx="2697480" cy="173736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3154680" y="731520"/>
            <a:ext cx="2697480" cy="640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3246120" y="868680"/>
            <a:ext cx="2514600" cy="960120"/>
          </a:xfrm>
          <a:prstGeom prst="rect">
            <a:avLst/>
          </a:prstGeom>
          <a:solidFill>
            <a:srgbClr val="F0F2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3246120" y="868680"/>
            <a:ext cx="2514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Book Detail Page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154680" y="1828800"/>
            <a:ext cx="2697480" cy="36576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3154680" y="1828800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Book Detail Page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154680" y="202996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2-column layout with image, price, stock, buy buttons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6035040" y="731520"/>
            <a:ext cx="2697480" cy="173736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6035040" y="731520"/>
            <a:ext cx="2697480" cy="64008"/>
          </a:xfrm>
          <a:prstGeom prst="rect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6126480" y="868680"/>
            <a:ext cx="2514600" cy="960120"/>
          </a:xfrm>
          <a:prstGeom prst="rect">
            <a:avLst/>
          </a:prstGeom>
          <a:solidFill>
            <a:srgbClr val="F0F2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6126480" y="868680"/>
            <a:ext cx="2514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Shopping Cart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035040" y="1828800"/>
            <a:ext cx="2697480" cy="365760"/>
          </a:xfrm>
          <a:prstGeom prst="rect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6035040" y="1828800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Shopping Cart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035040" y="202996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Item management, quantity control, order summary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274320" y="2606040"/>
            <a:ext cx="2697480" cy="173736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274320" y="2606040"/>
            <a:ext cx="2697480" cy="6400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365760" y="2743200"/>
            <a:ext cx="2514600" cy="960120"/>
          </a:xfrm>
          <a:prstGeom prst="rect">
            <a:avLst/>
          </a:prstGeom>
          <a:solidFill>
            <a:srgbClr val="F0F2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365760" y="2743200"/>
            <a:ext cx="2514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Stripe Checkout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274320" y="3703320"/>
            <a:ext cx="2697480" cy="36576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274320" y="3703320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Stripe Checkout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274320" y="390448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2-step: shipping address → Stripe card payment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1183868" y="3133474"/>
            <a:ext cx="754500" cy="37890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3154680" y="2606040"/>
            <a:ext cx="2697480" cy="6400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1209451" y="3163424"/>
            <a:ext cx="703500" cy="209700"/>
          </a:xfrm>
          <a:prstGeom prst="rect">
            <a:avLst/>
          </a:prstGeom>
          <a:solidFill>
            <a:srgbClr val="F0F2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1209451" y="3163424"/>
            <a:ext cx="703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My Orders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154680" y="3703320"/>
            <a:ext cx="2697480" cy="3657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3154680" y="3703320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My Orders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3154680" y="390448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Order history with status chips and detail 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1989749" y="3133474"/>
            <a:ext cx="754500" cy="37890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6035040" y="2606040"/>
            <a:ext cx="269748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2015333" y="3163424"/>
            <a:ext cx="703500" cy="209700"/>
          </a:xfrm>
          <a:prstGeom prst="rect">
            <a:avLst/>
          </a:prstGeom>
          <a:solidFill>
            <a:srgbClr val="F0F2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2015333" y="3163424"/>
            <a:ext cx="703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Admin Dashboard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035040" y="3703320"/>
            <a:ext cx="2697480" cy="3657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6035040" y="3703320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Admin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035040" y="390448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Stats cards, revenue, low stock alerts, recent orders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523"/>
          </a:solidFill>
          <a:ln cap="flat" cmpd="sng" w="12700">
            <a:solidFill>
              <a:srgbClr val="0915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000" y="795525"/>
            <a:ext cx="2558351" cy="103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6"/>
          <p:cNvPicPr preferRelativeResize="0"/>
          <p:nvPr/>
        </p:nvPicPr>
        <p:blipFill rotWithShape="1">
          <a:blip r:embed="rId4">
            <a:alphaModFix/>
          </a:blip>
          <a:srcRect b="0" l="-9770" r="9770" t="0"/>
          <a:stretch/>
        </p:blipFill>
        <p:spPr>
          <a:xfrm>
            <a:off x="3246125" y="845050"/>
            <a:ext cx="2514600" cy="9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875" y="2679200"/>
            <a:ext cx="2558348" cy="103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6125" y="2652775"/>
            <a:ext cx="2514600" cy="98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86425" y="845050"/>
            <a:ext cx="2558352" cy="9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04625" y="2625800"/>
            <a:ext cx="2582173" cy="103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Admin Modules — Live Features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274320" y="731520"/>
            <a:ext cx="4206300" cy="173730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274320" y="731520"/>
            <a:ext cx="4206300" cy="6390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411480" y="868680"/>
            <a:ext cx="3931800" cy="960000"/>
          </a:xfrm>
          <a:prstGeom prst="rect">
            <a:avLst/>
          </a:prstGeom>
          <a:solidFill>
            <a:srgbClr val="F0F2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411480" y="868680"/>
            <a:ext cx="3931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Admin Books CRUD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274320" y="1828800"/>
            <a:ext cx="4206300" cy="45720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274320" y="1828800"/>
            <a:ext cx="420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Admin Books CRUD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274320" y="2048256"/>
            <a:ext cx="4206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Add, edit, delete books with dialog form + search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4754880" y="731520"/>
            <a:ext cx="4206300" cy="173730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4754880" y="731520"/>
            <a:ext cx="4206300" cy="63900"/>
          </a:xfrm>
          <a:prstGeom prst="rect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4892040" y="868680"/>
            <a:ext cx="3931800" cy="960000"/>
          </a:xfrm>
          <a:prstGeom prst="rect">
            <a:avLst/>
          </a:prstGeom>
          <a:solidFill>
            <a:srgbClr val="F0F2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4892040" y="868680"/>
            <a:ext cx="3931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Admin Orders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4754880" y="1828800"/>
            <a:ext cx="4206300" cy="457200"/>
          </a:xfrm>
          <a:prstGeom prst="rect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4754880" y="1828800"/>
            <a:ext cx="420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Admin Orders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4754880" y="2048256"/>
            <a:ext cx="4206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View all orders, update status via dropdown per row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274320" y="2606040"/>
            <a:ext cx="4206300" cy="173730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274320" y="2606040"/>
            <a:ext cx="4206300" cy="639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411480" y="2743200"/>
            <a:ext cx="3931800" cy="960000"/>
          </a:xfrm>
          <a:prstGeom prst="rect">
            <a:avLst/>
          </a:prstGeom>
          <a:solidFill>
            <a:srgbClr val="F0F2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411480" y="2743200"/>
            <a:ext cx="3931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Order Success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274320" y="3703320"/>
            <a:ext cx="4206300" cy="4572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274320" y="3703320"/>
            <a:ext cx="420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Order Success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274320" y="3922776"/>
            <a:ext cx="4206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Confirmation page + email sent to customer inbox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754880" y="2606040"/>
            <a:ext cx="4206300" cy="173730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4754880" y="2606040"/>
            <a:ext cx="4206300" cy="639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4892040" y="2743200"/>
            <a:ext cx="3931800" cy="960000"/>
          </a:xfrm>
          <a:prstGeom prst="rect">
            <a:avLst/>
          </a:prstGeom>
          <a:solidFill>
            <a:srgbClr val="F0F2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4892040" y="2743200"/>
            <a:ext cx="3931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Email Notifications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rgbClr val="E639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754880" y="3703320"/>
            <a:ext cx="4206300" cy="4572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4754880" y="3703320"/>
            <a:ext cx="420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Email Notifications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754880" y="3922776"/>
            <a:ext cx="4206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Gmail Nodemailer + EmailLog saved to MongoDB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0" y="4754880"/>
            <a:ext cx="9144000" cy="388500"/>
          </a:xfrm>
          <a:prstGeom prst="rect">
            <a:avLst/>
          </a:prstGeom>
          <a:solidFill>
            <a:srgbClr val="091523"/>
          </a:solidFill>
          <a:ln cap="flat" cmpd="sng" w="12700">
            <a:solidFill>
              <a:srgbClr val="0915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375" y="812925"/>
            <a:ext cx="3978900" cy="101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525" y="2423674"/>
            <a:ext cx="4039700" cy="122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2050" y="812800"/>
            <a:ext cx="3931800" cy="96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1650" y="2743200"/>
            <a:ext cx="3892199" cy="90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Database Design (MongoDB)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228600" y="777240"/>
            <a:ext cx="2743200" cy="160020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228600" y="777240"/>
            <a:ext cx="2743200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228600" y="77724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20040" y="116128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_id, name, email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320040" y="145389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password (bcrypt)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320040" y="174650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role, phone, address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320040" y="203911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createdAt, updatedAt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154680" y="777240"/>
            <a:ext cx="2743200" cy="160020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3154680" y="777240"/>
            <a:ext cx="2743200" cy="34747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3154680" y="77724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Books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3246120" y="116128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_id, title, author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3246120" y="145389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genre, price, stock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3246120" y="174650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isbn, description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3246120" y="203911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imageUrl, createdAt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080760" y="777240"/>
            <a:ext cx="2743200" cy="160020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6080760" y="777240"/>
            <a:ext cx="2743200" cy="347472"/>
          </a:xfrm>
          <a:prstGeom prst="rect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6080760" y="77724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6172200" y="116128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_id, userId*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172200" y="145389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totalPrice, status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6172200" y="174650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paymentStatus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172200" y="203911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shippingAddress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228600" y="2468880"/>
            <a:ext cx="2743200" cy="160020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228600" y="2468880"/>
            <a:ext cx="2743200" cy="34747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228600" y="24688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OrderItems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320040" y="285292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_id, orderId*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320040" y="314553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bookId*, quantity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320040" y="343814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price at purchase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320040" y="373075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createdAt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3154680" y="2468880"/>
            <a:ext cx="2743200" cy="160020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3154680" y="2468880"/>
            <a:ext cx="2743200" cy="34747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3154680" y="24688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Payments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3246120" y="285292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_id, orderId*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3246120" y="314553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paymentIntentId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3246120" y="343814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amount, currency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3246120" y="373075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status, transactionDate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6080760" y="2468880"/>
            <a:ext cx="2743200" cy="160020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6080760" y="2468880"/>
            <a:ext cx="2743200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6080760" y="24688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EmailLogs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6172200" y="285292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_id, userId*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6172200" y="314553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emailType, status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6172200" y="343814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recipientEmail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6172200" y="373075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sentAt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274320" y="4572000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* = ObjectId reference (Mongoose populate())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523"/>
          </a:solidFill>
          <a:ln cap="flat" cmpd="sng" w="12700">
            <a:solidFill>
              <a:srgbClr val="0915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Implementation Highlights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274320" y="777240"/>
            <a:ext cx="4114800" cy="388620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Frontend  (React.js)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11480" y="12344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Material-UI v5 — Cards, Dialogs, Tables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11480" y="163677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Redux Toolkit — 5 slices, async thunks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411480" y="203911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React Router v6 — protected routes by role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11480" y="24414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Axios interceptor — auto-attaches JWT token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411480" y="28437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React Hook Form + Yup — form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411480" y="32461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Stripe.js — confirmCardPayment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411480" y="364845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React Toastify — toast notifications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411480" y="405079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BookFilter sidebar + BookSearch component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4663440" y="777240"/>
            <a:ext cx="4206240" cy="388620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Backend  (Node.js + Express)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4800600" y="12344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JWT authentication — 30-day token expiry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4800600" y="1636776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bcrypt — password hashing (salt rounds 10)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4800600" y="203911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5 controllers — auth, book, order, payment, 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4800600" y="244144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Stripe PaymentIntent + webhook handler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4800600" y="2843784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Nodemailer — Gmail order confirmation 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4800600" y="32461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EmailLog model — tracks all sent emails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4800600" y="3648456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Admin middleware — role-based access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4800600" y="405079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CORS configured for Vercel + localhost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523"/>
          </a:solidFill>
          <a:ln cap="flat" cmpd="sng" w="12700">
            <a:solidFill>
              <a:srgbClr val="0915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Stripe Payment 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274320" y="822960"/>
            <a:ext cx="1280160" cy="370332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594360" y="896112"/>
            <a:ext cx="640080" cy="64008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594360" y="89611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274320" y="16459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Add to Cart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274320" y="2103120"/>
            <a:ext cx="1280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Redux cart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state only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(no backend)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1554480" y="1161288"/>
            <a:ext cx="164592" cy="1371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1719072" y="822960"/>
            <a:ext cx="1280160" cy="370332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2039112" y="896112"/>
            <a:ext cx="640080" cy="640080"/>
          </a:xfrm>
          <a:prstGeom prst="ellipse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2039112" y="89611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1719072" y="16459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Create Order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1719072" y="2103120"/>
            <a:ext cx="1280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POST /api/orders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status: Pending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2999232" y="1161288"/>
            <a:ext cx="164592" cy="1371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3163824" y="822960"/>
            <a:ext cx="1280160" cy="370332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3483864" y="896112"/>
            <a:ext cx="640080" cy="640080"/>
          </a:xfrm>
          <a:prstGeom prst="ellipse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3483864" y="89611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3163824" y="16459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Payment Intent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3163824" y="2103120"/>
            <a:ext cx="1280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POST /api/payment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/create-intent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clientSecret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4443984" y="1161288"/>
            <a:ext cx="164592" cy="1371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4608576" y="822960"/>
            <a:ext cx="1280160" cy="370332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4928616" y="896112"/>
            <a:ext cx="640080" cy="640080"/>
          </a:xfrm>
          <a:prstGeom prst="ellipse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4928616" y="89611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4608576" y="16459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Stripe Confirm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608576" y="2103120"/>
            <a:ext cx="1280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confirmCard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Payment()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test card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5888736" y="1161288"/>
            <a:ext cx="164592" cy="1371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6053328" y="822960"/>
            <a:ext cx="1280160" cy="370332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6373368" y="896112"/>
            <a:ext cx="640080" cy="640080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6373368" y="89611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6053328" y="16459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Webhook Fires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6053328" y="2103120"/>
            <a:ext cx="1280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payment_intent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.succeeded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7333488" y="1161288"/>
            <a:ext cx="164592" cy="1371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7498080" y="822960"/>
            <a:ext cx="1280160" cy="370332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7818120" y="896112"/>
            <a:ext cx="640080" cy="64008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7818120" y="89611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7498080" y="16459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Email Sent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7498080" y="2103120"/>
            <a:ext cx="1280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Order Confirmed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+ EmailLog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saved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274320" y="4617720"/>
            <a:ext cx="8595360" cy="438912"/>
          </a:xfrm>
          <a:prstGeom prst="rect">
            <a:avLst/>
          </a:prstGeom>
          <a:solidFill>
            <a:srgbClr val="091523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274320" y="4617720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Result: Order status → Confirmed  |  Email delivered to customer  |  EmailLog saved in MongoDB  |  Revenue updated in Admin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523"/>
          </a:solidFill>
          <a:ln cap="flat" cmpd="sng" w="12700">
            <a:solidFill>
              <a:srgbClr val="0915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Testing &amp; Deployment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274320" y="777240"/>
            <a:ext cx="2011680" cy="10058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274320" y="777240"/>
            <a:ext cx="201168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274320" y="9144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274320" y="13716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Registered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2450592" y="777240"/>
            <a:ext cx="2011680" cy="10058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1"/>
          <p:cNvSpPr/>
          <p:nvPr/>
        </p:nvSpPr>
        <p:spPr>
          <a:xfrm>
            <a:off x="2450592" y="777240"/>
            <a:ext cx="2011680" cy="4572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2450592" y="9144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2450592" y="13716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Books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Created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4626864" y="777240"/>
            <a:ext cx="2011680" cy="10058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4626864" y="777240"/>
            <a:ext cx="2011680" cy="45720"/>
          </a:xfrm>
          <a:prstGeom prst="rect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4626864" y="9144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4626864" y="13716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APIs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Tested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6803136" y="777240"/>
            <a:ext cx="2011680" cy="10058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6803136" y="777240"/>
            <a:ext cx="2011680" cy="4572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6803136" y="9144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6803136" y="13716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Tested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274320" y="1920240"/>
            <a:ext cx="2011680" cy="265176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274320" y="1920240"/>
            <a:ext cx="2011680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"/>
          <p:cNvSpPr/>
          <p:nvPr/>
        </p:nvSpPr>
        <p:spPr>
          <a:xfrm>
            <a:off x="274320" y="192024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Vercel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274320" y="230428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365760" y="260604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Zero-config React deploy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Auto-deploys on git push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CDN-distributed globally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ENV: VITE_API_URL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2450592" y="1920240"/>
            <a:ext cx="2011680" cy="265176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2450592" y="1920240"/>
            <a:ext cx="2011680" cy="34747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2450592" y="192024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Render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2450592" y="230428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2542032" y="260604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Node.js Web Service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Auto-deploys from GitHub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HTTPS endpoint provided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ENV: MONGO_URI, JWT_SECRET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4626864" y="1920240"/>
            <a:ext cx="2011680" cy="265176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4626864" y="1920240"/>
            <a:ext cx="2011680" cy="347472"/>
          </a:xfrm>
          <a:prstGeom prst="rect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4626864" y="192024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MongoDB Atlas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4626864" y="230428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4718304" y="260604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Managed cloud MongoDB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Auto backups + scaling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6 collections, 20+ docs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ENV: Connection string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6803136" y="1920240"/>
            <a:ext cx="2011680" cy="265176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6803136" y="1920240"/>
            <a:ext cx="2011680" cy="34747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6803136" y="192024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Stripe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6803136" y="230428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Payments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6894576" y="260604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PaymentIntent 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Webhook for confirmation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Test mode verified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ENV: STRIPE_SECRET_KEY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274320" y="4617720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CI/CD: Every push to main branch triggers automatic redeploy on Vercel &amp; Render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523"/>
          </a:solidFill>
          <a:ln cap="flat" cmpd="sng" w="12700">
            <a:solidFill>
              <a:srgbClr val="0915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Results &amp; Outcomes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274320" y="777240"/>
            <a:ext cx="3657600" cy="82296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2"/>
          <p:cNvSpPr/>
          <p:nvPr/>
        </p:nvSpPr>
        <p:spPr>
          <a:xfrm>
            <a:off x="274320" y="777240"/>
            <a:ext cx="64008" cy="82296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411480" y="77724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2800"/>
              <a:buFont typeface="Arial Black"/>
              <a:buNone/>
            </a:pPr>
            <a:r>
              <a:rPr b="1" i="0" lang="en-US" sz="2400" u="none" cap="none" strike="noStrike">
                <a:solidFill>
                  <a:srgbClr val="06D6A0"/>
                </a:solidFill>
                <a:latin typeface="Arial Black"/>
                <a:ea typeface="Arial Black"/>
                <a:cs typeface="Arial Black"/>
                <a:sym typeface="Arial Black"/>
              </a:rPr>
              <a:t>&lt; 2s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1554480" y="7772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Load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274320" y="1783080"/>
            <a:ext cx="3657600" cy="82296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2"/>
          <p:cNvSpPr/>
          <p:nvPr/>
        </p:nvSpPr>
        <p:spPr>
          <a:xfrm>
            <a:off x="274320" y="1783080"/>
            <a:ext cx="64008" cy="8229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2"/>
          <p:cNvSpPr/>
          <p:nvPr/>
        </p:nvSpPr>
        <p:spPr>
          <a:xfrm>
            <a:off x="411480" y="178308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Arial Black"/>
              <a:buNone/>
            </a:pPr>
            <a:r>
              <a:rPr b="1" i="0" lang="en-US" sz="2400" u="none" cap="none" strike="noStrik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17/17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1554480" y="17830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APIs Working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274320" y="2788920"/>
            <a:ext cx="3657600" cy="82296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2"/>
          <p:cNvSpPr/>
          <p:nvPr/>
        </p:nvSpPr>
        <p:spPr>
          <a:xfrm>
            <a:off x="274320" y="2788920"/>
            <a:ext cx="64008" cy="822960"/>
          </a:xfrm>
          <a:prstGeom prst="rect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2"/>
          <p:cNvSpPr/>
          <p:nvPr/>
        </p:nvSpPr>
        <p:spPr>
          <a:xfrm>
            <a:off x="411480" y="278892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2800"/>
              <a:buFont typeface="Arial Black"/>
              <a:buNone/>
            </a:pPr>
            <a:r>
              <a:rPr b="1" i="0" lang="en-US" sz="2400" u="none" cap="none" strike="noStrike">
                <a:solidFill>
                  <a:srgbClr val="FF9F1C"/>
                </a:solidFill>
                <a:latin typeface="Arial Black"/>
                <a:ea typeface="Arial Black"/>
                <a:cs typeface="Arial Black"/>
                <a:sym typeface="Arial Black"/>
              </a:rPr>
              <a:t>100%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1554480" y="27889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 Delivery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274320" y="3794760"/>
            <a:ext cx="3657600" cy="82296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274320" y="3794760"/>
            <a:ext cx="64008" cy="82296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411480" y="379476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2800"/>
              <a:buFont typeface="Arial Black"/>
              <a:buNone/>
            </a:pPr>
            <a:r>
              <a:rPr b="1" i="0" lang="en-US" sz="2400" u="none" cap="none" strike="noStrike">
                <a:solidFill>
                  <a:srgbClr val="7B2FBE"/>
                </a:solidFill>
                <a:latin typeface="Arial Black"/>
                <a:ea typeface="Arial Black"/>
                <a:cs typeface="Arial Black"/>
                <a:sym typeface="Arial Black"/>
              </a:rPr>
              <a:t>12/12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1554480" y="37947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Pages Complete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4206240" y="731520"/>
            <a:ext cx="4663440" cy="393192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2"/>
          <p:cNvSpPr/>
          <p:nvPr/>
        </p:nvSpPr>
        <p:spPr>
          <a:xfrm>
            <a:off x="4206240" y="74980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Live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4297680" y="1097280"/>
            <a:ext cx="4480560" cy="347472"/>
          </a:xfrm>
          <a:prstGeom prst="rect">
            <a:avLst/>
          </a:prstGeom>
          <a:solidFill>
            <a:srgbClr val="152238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2"/>
          <p:cNvSpPr/>
          <p:nvPr/>
        </p:nvSpPr>
        <p:spPr>
          <a:xfrm>
            <a:off x="4389120" y="109728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Books: 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4297680" y="1508760"/>
            <a:ext cx="4480560" cy="347472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2"/>
          <p:cNvSpPr/>
          <p:nvPr/>
        </p:nvSpPr>
        <p:spPr>
          <a:xfrm>
            <a:off x="4389120" y="150876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Orders: 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4297680" y="1920240"/>
            <a:ext cx="4480560" cy="347472"/>
          </a:xfrm>
          <a:prstGeom prst="rect">
            <a:avLst/>
          </a:prstGeom>
          <a:solidFill>
            <a:srgbClr val="152238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4389120" y="1920240"/>
            <a:ext cx="438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(Paid): ₹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10,000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4297680" y="2331720"/>
            <a:ext cx="4480560" cy="347472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2"/>
          <p:cNvSpPr/>
          <p:nvPr/>
        </p:nvSpPr>
        <p:spPr>
          <a:xfrm>
            <a:off x="4389120" y="233172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Stock: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4297680" y="2743200"/>
            <a:ext cx="4480560" cy="347472"/>
          </a:xfrm>
          <a:prstGeom prst="rect">
            <a:avLst/>
          </a:prstGeom>
          <a:solidFill>
            <a:srgbClr val="152238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4389120" y="274320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 Dashboard 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4297680" y="3154680"/>
            <a:ext cx="4480560" cy="347472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4389120" y="315468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 Logs: Verified 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4297680" y="3566160"/>
            <a:ext cx="4480560" cy="347472"/>
          </a:xfrm>
          <a:prstGeom prst="rect">
            <a:avLst/>
          </a:prstGeom>
          <a:solidFill>
            <a:srgbClr val="152238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4389120" y="356616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Stripe Webhook: Working 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4297680" y="3977640"/>
            <a:ext cx="4480560" cy="347472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4389120" y="397764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Deployed on Vercel + Render 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523"/>
          </a:solidFill>
          <a:ln cap="flat" cmpd="sng" w="12700">
            <a:solidFill>
              <a:srgbClr val="0915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Future Enhancements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274320" y="777240"/>
            <a:ext cx="2697480" cy="16916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3"/>
          <p:cNvSpPr/>
          <p:nvPr/>
        </p:nvSpPr>
        <p:spPr>
          <a:xfrm>
            <a:off x="274320" y="777240"/>
            <a:ext cx="269748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3"/>
          <p:cNvSpPr/>
          <p:nvPr/>
        </p:nvSpPr>
        <p:spPr>
          <a:xfrm>
            <a:off x="365760" y="914400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Book Reviews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365760" y="1307592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Star ratings + customer reviews with moderation 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3154680" y="777240"/>
            <a:ext cx="2697480" cy="16916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3"/>
          <p:cNvSpPr/>
          <p:nvPr/>
        </p:nvSpPr>
        <p:spPr>
          <a:xfrm>
            <a:off x="3154680" y="777240"/>
            <a:ext cx="2697480" cy="640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3"/>
          <p:cNvSpPr/>
          <p:nvPr/>
        </p:nvSpPr>
        <p:spPr>
          <a:xfrm>
            <a:off x="3246120" y="914400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Advanced 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3246120" y="1307592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Elasticsearch full-text search by content, genre, price range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6035040" y="777240"/>
            <a:ext cx="2697480" cy="16916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3"/>
          <p:cNvSpPr/>
          <p:nvPr/>
        </p:nvSpPr>
        <p:spPr>
          <a:xfrm>
            <a:off x="6035040" y="777240"/>
            <a:ext cx="2697480" cy="64008"/>
          </a:xfrm>
          <a:prstGeom prst="rect">
            <a:avLst/>
          </a:prstGeom>
          <a:solidFill>
            <a:srgbClr val="FF9F1C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3"/>
          <p:cNvSpPr/>
          <p:nvPr/>
        </p:nvSpPr>
        <p:spPr>
          <a:xfrm>
            <a:off x="6126480" y="914400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Razorpay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6126480" y="1307592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Add UPI, net banking, EMI as additional payment options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274320" y="2606040"/>
            <a:ext cx="2697480" cy="16916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"/>
          <p:cNvSpPr/>
          <p:nvPr/>
        </p:nvSpPr>
        <p:spPr>
          <a:xfrm>
            <a:off x="274320" y="2606040"/>
            <a:ext cx="2697480" cy="6400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3"/>
          <p:cNvSpPr/>
          <p:nvPr/>
        </p:nvSpPr>
        <p:spPr>
          <a:xfrm>
            <a:off x="365760" y="2743200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Mobile App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365760" y="3136392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React Native app sharing Redux business logic with web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3154680" y="2606040"/>
            <a:ext cx="2697480" cy="16916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3"/>
          <p:cNvSpPr/>
          <p:nvPr/>
        </p:nvSpPr>
        <p:spPr>
          <a:xfrm>
            <a:off x="3154680" y="2606040"/>
            <a:ext cx="2697480" cy="6400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3"/>
          <p:cNvSpPr/>
          <p:nvPr/>
        </p:nvSpPr>
        <p:spPr>
          <a:xfrm>
            <a:off x="3246120" y="2743200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Analytics 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3246120" y="3136392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Sales trends, revenue reports, bestseller tracking charts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6035040" y="2606040"/>
            <a:ext cx="2697480" cy="16916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3"/>
          <p:cNvSpPr/>
          <p:nvPr/>
        </p:nvSpPr>
        <p:spPr>
          <a:xfrm>
            <a:off x="6035040" y="2606040"/>
            <a:ext cx="269748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3"/>
          <p:cNvSpPr/>
          <p:nvPr/>
        </p:nvSpPr>
        <p:spPr>
          <a:xfrm>
            <a:off x="6126480" y="2743200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Wishlist Feature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6126480" y="3136392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Save books for later, get price drop notifications via 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523"/>
          </a:solidFill>
          <a:ln cap="flat" cmpd="sng" w="12700">
            <a:solidFill>
              <a:srgbClr val="0915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4"/>
          <p:cNvSpPr/>
          <p:nvPr/>
        </p:nvSpPr>
        <p:spPr>
          <a:xfrm>
            <a:off x="0" y="457200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Arial Black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274320" y="1600200"/>
            <a:ext cx="4114800" cy="2468880"/>
          </a:xfrm>
          <a:prstGeom prst="rect">
            <a:avLst/>
          </a:prstGeom>
          <a:solidFill>
            <a:srgbClr val="F0F2F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4"/>
          <p:cNvSpPr/>
          <p:nvPr/>
        </p:nvSpPr>
        <p:spPr>
          <a:xfrm>
            <a:off x="274325" y="1635550"/>
            <a:ext cx="41148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Admin Dashboard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274320" y="4114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Stats + Orders + Books Management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4754880" y="1600200"/>
            <a:ext cx="4114800" cy="2468880"/>
          </a:xfrm>
          <a:prstGeom prst="rect">
            <a:avLst/>
          </a:prstGeom>
          <a:solidFill>
            <a:srgbClr val="F0F2F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4"/>
          <p:cNvSpPr/>
          <p:nvPr/>
        </p:nvSpPr>
        <p:spPr>
          <a:xfrm>
            <a:off x="4754880" y="1600200"/>
            <a:ext cx="41148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Order Success Page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4754880" y="4114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Stripe payment confirmed + email sent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0" y="446227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SHUBHANJALI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0" y="477316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DB5BD"/>
                </a:solidFill>
                <a:latin typeface="Calibri"/>
                <a:ea typeface="Calibri"/>
                <a:cs typeface="Calibri"/>
                <a:sym typeface="Calibri"/>
              </a:rPr>
              <a:t>B.Tech IT  |  IIIT Allahabad  |  Smart Bookstore Management System  ·  2025–26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523"/>
          </a:solidFill>
          <a:ln cap="flat" cmpd="sng" w="12700">
            <a:solidFill>
              <a:srgbClr val="0915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9" name="Google Shape;52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9975" y="1572775"/>
            <a:ext cx="4039700" cy="246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525" y="1635550"/>
            <a:ext cx="4000502" cy="24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2026-04-17T06:56:40Z</dcterms:created>
  <dc:creator>Shubhanjali</dc:creator>
</cp:coreProperties>
</file>